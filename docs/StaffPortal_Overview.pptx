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Staff Portal is a multi-brand staff-management platform for a hospitality group. Web + Android, one secure origin.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 is: a single system to manage staff across brands/stores/positions, with role-based access, full audit trail, web + Android.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org model: Brands contain Stores; Positions are brand-specific; Employees sit at a primary store plus optional additional stores. A foodmall store carries multiple brands.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roles from Super Admin down to store-level logins. Role checks are server-enforced; multi-role is supported (effective roles = primary + additional).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capabilities: employee records + wizard, org management + bulk import, Area Manager cluster tools, staff notes with visibility, status changes, notifications, audit console, configurable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 and Foodmall accounts are store-scoped and restricted to name + brand — nothing sensitive. Foodmalls group staff by brand. Both can request staff, which admins approve.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Registration foundation: sign-up, email confirmation, then admin approval creates the account with an assigned role. Email sending is stubbed until the domain is set up; the flow is otherwise complete and toggle-gated.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users reach the app over HTTPS through Cloudflare's tunnel (no inbound ports). The backend serves both the Flutter web UI and the API from one origin, backed by PostgreSQL. Stack: FastAPI + SQLModel + PostgreSQL, Flutter,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Security: role-carrying tokens, bcrypt passwords, server-enforced role checks, restricted store views, and a full audit trail. Admin controls: maintenance mode, announcements, and the login marketing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Staff Portal is live on web and Android from one secure address, ready to manage staff across the whole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914400"/>
            <a:ext cx="146304" cy="146304"/>
          </a:xfrm>
          <a:prstGeom prst="ellipse">
            <a:avLst/>
          </a:prstGeom>
          <a:solidFill>
            <a:srgbClr val="E9A23B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1371600"/>
            <a:ext cx="146304" cy="146304"/>
          </a:xfrm>
          <a:prstGeom prst="ellipse">
            <a:avLst/>
          </a:prstGeom>
          <a:solidFill>
            <a:srgbClr val="E9A23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2286000"/>
            <a:ext cx="146304" cy="146304"/>
          </a:xfrm>
          <a:prstGeom prst="ellipse">
            <a:avLst/>
          </a:prstGeom>
          <a:solidFill>
            <a:srgbClr val="E9A23B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2194560"/>
            <a:ext cx="146304" cy="146304"/>
          </a:xfrm>
          <a:prstGeom prst="ellipse">
            <a:avLst/>
          </a:prstGeom>
          <a:solidFill>
            <a:srgbClr val="E9A23B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3108960"/>
            <a:ext cx="146304" cy="146304"/>
          </a:xfrm>
          <a:prstGeom prst="ellipse">
            <a:avLst/>
          </a:prstGeom>
          <a:solidFill>
            <a:srgbClr val="E9A23B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612880" y="1097280"/>
            <a:ext cx="146304" cy="146304"/>
          </a:xfrm>
          <a:prstGeom prst="ellipse">
            <a:avLst/>
          </a:prstGeom>
          <a:solidFill>
            <a:srgbClr val="E9A23B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491472" y="987552"/>
            <a:ext cx="932688" cy="384048"/>
          </a:xfrm>
          <a:prstGeom prst="line">
            <a:avLst/>
          </a:prstGeom>
          <a:noFill/>
          <a:ln w="12700">
            <a:solidFill>
              <a:srgbClr val="E9A23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97312" y="1444752"/>
            <a:ext cx="658368" cy="749808"/>
          </a:xfrm>
          <a:prstGeom prst="line">
            <a:avLst/>
          </a:prstGeom>
          <a:noFill/>
          <a:ln w="12700">
            <a:solidFill>
              <a:srgbClr val="E9A23B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48672" y="2359152"/>
            <a:ext cx="658368" cy="749808"/>
          </a:xfrm>
          <a:prstGeom prst="line">
            <a:avLst/>
          </a:prstGeom>
          <a:noFill/>
          <a:ln w="12700">
            <a:solidFill>
              <a:srgbClr val="E9A23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868680"/>
            <a:ext cx="1051560" cy="1051560"/>
          </a:xfrm>
          <a:prstGeom prst="roundRect">
            <a:avLst>
              <a:gd name="adj" fmla="val 22000"/>
            </a:avLst>
          </a:prstGeom>
          <a:solidFill>
            <a:srgbClr val="E9A23B"/>
          </a:solidFill>
          <a:ln/>
        </p:spPr>
      </p:sp>
      <p:sp>
        <p:nvSpPr>
          <p:cNvPr id="12" name="Shape 10"/>
          <p:cNvSpPr/>
          <p:nvPr/>
        </p:nvSpPr>
        <p:spPr>
          <a:xfrm flipH="1">
            <a:off x="1117397" y="1194664"/>
            <a:ext cx="231343" cy="420624"/>
          </a:xfrm>
          <a:prstGeom prst="line">
            <a:avLst/>
          </a:prstGeom>
          <a:noFill/>
          <a:ln w="49657">
            <a:solidFill>
              <a:srgbClr val="0F3D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48740" y="1194664"/>
            <a:ext cx="231343" cy="420624"/>
          </a:xfrm>
          <a:prstGeom prst="line">
            <a:avLst/>
          </a:prstGeom>
          <a:noFill/>
          <a:ln w="49657">
            <a:solidFill>
              <a:srgbClr val="0F3D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2241" y="1510132"/>
            <a:ext cx="210312" cy="210312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15" name="Shape 13"/>
          <p:cNvSpPr/>
          <p:nvPr/>
        </p:nvSpPr>
        <p:spPr>
          <a:xfrm>
            <a:off x="1474927" y="1510132"/>
            <a:ext cx="210312" cy="210312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12037" y="1057961"/>
            <a:ext cx="273406" cy="273406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331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Portal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822960" y="3429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Multi-brand staff management for restaurant &amp; hospitality operations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2296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· Brands · Stores · Roles </a:t>
            </a:r>
            <a:pPr indent="0" marL="0">
              <a:buNone/>
            </a:pPr>
            <a:r>
              <a:rPr lang="en-US" sz="1500" i="1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 one secure place, on web and mobile.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Arif Asad Ali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Portal  ·  Created by Arif Asad Ali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place to run your people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309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Portal tracks every employee across your brands, stores and positions — with role-based access so each person sees exactly what they should, a complete audit trail of every change, and a live deployment your team reaches from a browser or the Android app.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6309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review and update staff with a guided new-hire wizard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people by brand → store → position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Bulk-import brands, stores, positions and employees from CSV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06640" y="822960"/>
            <a:ext cx="4206240" cy="5120640"/>
          </a:xfrm>
          <a:prstGeom prst="roundRect">
            <a:avLst>
              <a:gd name="adj" fmla="val 3043"/>
            </a:avLst>
          </a:prstGeom>
          <a:solidFill>
            <a:srgbClr val="0F3D3E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11430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818120" y="180136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from Super Admin to store-level logins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18120" y="2368296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818120" y="302666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— web and Android, one codebase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18120" y="3593592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818120" y="4251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HTTPS address for the whole team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818120" y="481888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818120" y="547725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changes captured in the audit log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Portal  ·  Created by Arif Asad Ali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your organisation is modelled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DEDD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2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148840"/>
            <a:ext cx="640080" cy="64008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companies you operate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081528" y="2971800"/>
            <a:ext cx="283464" cy="0"/>
          </a:xfrm>
          <a:prstGeom prst="line">
            <a:avLst/>
          </a:prstGeom>
          <a:noFill/>
          <a:ln w="31750">
            <a:solidFill>
              <a:srgbClr val="E9A23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83280" y="18288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DEDD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2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0540" y="2148840"/>
            <a:ext cx="640080" cy="64008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2" name="Text 10"/>
          <p:cNvSpPr/>
          <p:nvPr/>
        </p:nvSpPr>
        <p:spPr>
          <a:xfrm>
            <a:off x="432054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8803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566160" y="32918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under each brand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16168" y="2971800"/>
            <a:ext cx="283464" cy="0"/>
          </a:xfrm>
          <a:prstGeom prst="line">
            <a:avLst/>
          </a:prstGeom>
          <a:noFill/>
          <a:ln w="31750">
            <a:solidFill>
              <a:srgbClr val="E9A23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17920" y="18288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DEDD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2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55180" y="2148840"/>
            <a:ext cx="640080" cy="64008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8" name="Text 16"/>
          <p:cNvSpPr/>
          <p:nvPr/>
        </p:nvSpPr>
        <p:spPr>
          <a:xfrm>
            <a:off x="715518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8803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00800" y="32918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Brand-specific job roles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750808" y="2971800"/>
            <a:ext cx="283464" cy="0"/>
          </a:xfrm>
          <a:prstGeom prst="line">
            <a:avLst/>
          </a:prstGeom>
          <a:noFill/>
          <a:ln w="31750">
            <a:solidFill>
              <a:srgbClr val="E9A23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52560" y="18288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DEDD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2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89820" y="2148840"/>
            <a:ext cx="640080" cy="64008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4" name="Text 22"/>
          <p:cNvSpPr/>
          <p:nvPr/>
        </p:nvSpPr>
        <p:spPr>
          <a:xfrm>
            <a:off x="99898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52560" y="28803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Employees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235440" y="329184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a primary store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additional stores)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6177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0F3D3E"/>
          </a:solidFill>
          <a:ln/>
        </p:spPr>
      </p:sp>
      <p:sp>
        <p:nvSpPr>
          <p:cNvPr id="28" name="Shape 26"/>
          <p:cNvSpPr/>
          <p:nvPr/>
        </p:nvSpPr>
        <p:spPr>
          <a:xfrm>
            <a:off x="868680" y="4892040"/>
            <a:ext cx="658368" cy="658368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8920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1783080" y="4754880"/>
            <a:ext cx="9509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Foodmalls: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store can be flagged as a foodmall and carry several brands at once. Store-level accounts then see their staff grouped by brand.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Portal  ·  Created by Arif Asad Ali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— everyone sees the right slice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enforced on the server. Users can also hold more than one role.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12494A"/>
          </a:solidFill>
          <a:ln w="12700">
            <a:solidFill>
              <a:srgbClr val="1B6B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16252"/>
            <a:ext cx="768096" cy="768096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1625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37360" y="19476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Admin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737360" y="236829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+ announcements &amp; approvals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12494A"/>
          </a:solidFill>
          <a:ln w="12700">
            <a:solidFill>
              <a:srgbClr val="1B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2016252"/>
            <a:ext cx="768096" cy="768096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01625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32120" y="19476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532120" y="236829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staff, org, users and settings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12494A"/>
          </a:solidFill>
          <a:ln w="12700">
            <a:solidFill>
              <a:srgbClr val="1B6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4192" y="2016252"/>
            <a:ext cx="768096" cy="768096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7" name="Text 15"/>
          <p:cNvSpPr/>
          <p:nvPr/>
        </p:nvSpPr>
        <p:spPr>
          <a:xfrm>
            <a:off x="8394192" y="201625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326880" y="194767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326880" y="236829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hires, employees, status &amp; notes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12494A"/>
          </a:solidFill>
          <a:ln w="12700">
            <a:solidFill>
              <a:srgbClr val="1B6B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3662172"/>
            <a:ext cx="768096" cy="768096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6621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37360" y="35935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Manager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737360" y="401421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brand cluster: move &amp; request staff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43400" y="333756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12494A"/>
          </a:solidFill>
          <a:ln w="12700">
            <a:solidFill>
              <a:srgbClr val="1B6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9432" y="3662172"/>
            <a:ext cx="768096" cy="768096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7" name="Text 25"/>
          <p:cNvSpPr/>
          <p:nvPr/>
        </p:nvSpPr>
        <p:spPr>
          <a:xfrm>
            <a:off x="4599432" y="36621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32120" y="35935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5532120" y="401421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Admin-lite: staff view + provisioning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8160" y="333756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12494A"/>
          </a:solidFill>
          <a:ln w="12700">
            <a:solidFill>
              <a:srgbClr val="1B6B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94192" y="3662172"/>
            <a:ext cx="768096" cy="768096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32" name="Text 30"/>
          <p:cNvSpPr/>
          <p:nvPr/>
        </p:nvSpPr>
        <p:spPr>
          <a:xfrm>
            <a:off x="8394192" y="36621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326880" y="35935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/ Foodmall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9326880" y="401421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store only — name + brand, request staff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Portal  ·  Created by Arif Asad Ali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DD"/>
            </a:solidFill>
            <a:prstDash val="solid"/>
          </a:ln>
          <a:effectLst>
            <a:outerShdw sx="100000" sy="100000" kx="0" ky="0" algn="bl" rotWithShape="0" blurRad="63500" dist="25400" dir="5400000">
              <a:srgbClr val="AAB4B2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55648"/>
            <a:ext cx="566928" cy="566928"/>
          </a:xfrm>
          <a:prstGeom prst="ellipse">
            <a:avLst/>
          </a:prstGeom>
          <a:solidFill>
            <a:srgbClr val="FCEFD6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274320" cy="27432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423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records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94436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Wizard, list, edit, delete; primary + additional stores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56432" y="146304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DD"/>
            </a:solidFill>
            <a:prstDash val="solid"/>
          </a:ln>
          <a:effectLst>
            <a:outerShdw sx="100000" sy="100000" kx="0" ky="0" algn="bl" rotWithShape="0" blurRad="63500" dist="25400" dir="5400000">
              <a:srgbClr val="AAB4B2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30752" y="1755648"/>
            <a:ext cx="566928" cy="566928"/>
          </a:xfrm>
          <a:prstGeom prst="ellipse">
            <a:avLst/>
          </a:prstGeom>
          <a:solidFill>
            <a:srgbClr val="FCEFD6"/>
          </a:solidFill>
          <a:ln/>
        </p:spPr>
      </p:sp>
      <p:sp>
        <p:nvSpPr>
          <p:cNvPr id="11" name="Shape 9"/>
          <p:cNvSpPr/>
          <p:nvPr/>
        </p:nvSpPr>
        <p:spPr>
          <a:xfrm>
            <a:off x="3877056" y="1901952"/>
            <a:ext cx="274320" cy="27432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2" name="Text 10"/>
          <p:cNvSpPr/>
          <p:nvPr/>
        </p:nvSpPr>
        <p:spPr>
          <a:xfrm>
            <a:off x="3712464" y="2423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 &amp; bulk import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712464" y="294436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Brands, stores, positions; CSV bulk upload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64224" y="146304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DD"/>
            </a:solidFill>
            <a:prstDash val="solid"/>
          </a:ln>
          <a:effectLst>
            <a:outerShdw sx="100000" sy="100000" kx="0" ky="0" algn="bl" rotWithShape="0" blurRad="63500" dist="25400" dir="5400000">
              <a:srgbClr val="AAB4B2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38544" y="1755648"/>
            <a:ext cx="566928" cy="566928"/>
          </a:xfrm>
          <a:prstGeom prst="ellipse">
            <a:avLst/>
          </a:prstGeom>
          <a:solidFill>
            <a:srgbClr val="FCEFD6"/>
          </a:solidFill>
          <a:ln/>
        </p:spPr>
      </p:sp>
      <p:sp>
        <p:nvSpPr>
          <p:cNvPr id="16" name="Shape 14"/>
          <p:cNvSpPr/>
          <p:nvPr/>
        </p:nvSpPr>
        <p:spPr>
          <a:xfrm>
            <a:off x="6784848" y="1901952"/>
            <a:ext cx="274320" cy="27432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7" name="Text 15"/>
          <p:cNvSpPr/>
          <p:nvPr/>
        </p:nvSpPr>
        <p:spPr>
          <a:xfrm>
            <a:off x="6620256" y="2423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Manager clusters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620256" y="294436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staff, request staff, cross-store assignments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72016" y="146304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DD"/>
            </a:solidFill>
            <a:prstDash val="solid"/>
          </a:ln>
          <a:effectLst>
            <a:outerShdw sx="100000" sy="100000" kx="0" ky="0" algn="bl" rotWithShape="0" blurRad="63500" dist="25400" dir="5400000">
              <a:srgbClr val="AAB4B2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46336" y="1755648"/>
            <a:ext cx="566928" cy="566928"/>
          </a:xfrm>
          <a:prstGeom prst="ellipse">
            <a:avLst/>
          </a:prstGeom>
          <a:solidFill>
            <a:srgbClr val="FCEFD6"/>
          </a:solidFill>
          <a:ln/>
        </p:spPr>
      </p:sp>
      <p:sp>
        <p:nvSpPr>
          <p:cNvPr id="21" name="Shape 19"/>
          <p:cNvSpPr/>
          <p:nvPr/>
        </p:nvSpPr>
        <p:spPr>
          <a:xfrm>
            <a:off x="9692640" y="1901952"/>
            <a:ext cx="274320" cy="27432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2" name="Text 20"/>
          <p:cNvSpPr/>
          <p:nvPr/>
        </p:nvSpPr>
        <p:spPr>
          <a:xfrm>
            <a:off x="9528048" y="2423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notes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528048" y="294436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Per-note visibility: private, by role, or by brand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DD"/>
            </a:solidFill>
            <a:prstDash val="solid"/>
          </a:ln>
          <a:effectLst>
            <a:outerShdw sx="100000" sy="100000" kx="0" ky="0" algn="bl" rotWithShape="0" blurRad="63500" dist="25400" dir="5400000">
              <a:srgbClr val="AAB4B2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4178808"/>
            <a:ext cx="566928" cy="566928"/>
          </a:xfrm>
          <a:prstGeom prst="ellipse">
            <a:avLst/>
          </a:prstGeom>
          <a:solidFill>
            <a:srgbClr val="FCEFD6"/>
          </a:solidFill>
          <a:ln/>
        </p:spPr>
      </p:sp>
      <p:sp>
        <p:nvSpPr>
          <p:cNvPr id="26" name="Shape 24"/>
          <p:cNvSpPr/>
          <p:nvPr/>
        </p:nvSpPr>
        <p:spPr>
          <a:xfrm>
            <a:off x="969264" y="4325112"/>
            <a:ext cx="274320" cy="27432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48463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changes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04672" y="536752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Promote, demote, terminate, reactivate — logged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56432" y="388620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DD"/>
            </a:solidFill>
            <a:prstDash val="solid"/>
          </a:ln>
          <a:effectLst>
            <a:outerShdw sx="100000" sy="100000" kx="0" ky="0" algn="bl" rotWithShape="0" blurRad="63500" dist="25400" dir="5400000">
              <a:srgbClr val="AAB4B2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30752" y="4178808"/>
            <a:ext cx="566928" cy="566928"/>
          </a:xfrm>
          <a:prstGeom prst="ellipse">
            <a:avLst/>
          </a:prstGeom>
          <a:solidFill>
            <a:srgbClr val="FCEFD6"/>
          </a:solidFill>
          <a:ln/>
        </p:spPr>
      </p:sp>
      <p:sp>
        <p:nvSpPr>
          <p:cNvPr id="31" name="Shape 29"/>
          <p:cNvSpPr/>
          <p:nvPr/>
        </p:nvSpPr>
        <p:spPr>
          <a:xfrm>
            <a:off x="3877056" y="4325112"/>
            <a:ext cx="274320" cy="27432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32" name="Text 30"/>
          <p:cNvSpPr/>
          <p:nvPr/>
        </p:nvSpPr>
        <p:spPr>
          <a:xfrm>
            <a:off x="3712464" y="48463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3712464" y="536752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inbox + topbar bell with triggers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64224" y="388620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DD"/>
            </a:solidFill>
            <a:prstDash val="solid"/>
          </a:ln>
          <a:effectLst>
            <a:outerShdw sx="100000" sy="100000" kx="0" ky="0" algn="bl" rotWithShape="0" blurRad="63500" dist="25400" dir="5400000">
              <a:srgbClr val="AAB4B2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38544" y="4178808"/>
            <a:ext cx="566928" cy="566928"/>
          </a:xfrm>
          <a:prstGeom prst="ellipse">
            <a:avLst/>
          </a:prstGeom>
          <a:solidFill>
            <a:srgbClr val="FCEFD6"/>
          </a:solidFill>
          <a:ln/>
        </p:spPr>
      </p:sp>
      <p:sp>
        <p:nvSpPr>
          <p:cNvPr id="36" name="Shape 34"/>
          <p:cNvSpPr/>
          <p:nvPr/>
        </p:nvSpPr>
        <p:spPr>
          <a:xfrm>
            <a:off x="6784848" y="4325112"/>
            <a:ext cx="274320" cy="27432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37" name="Text 35"/>
          <p:cNvSpPr/>
          <p:nvPr/>
        </p:nvSpPr>
        <p:spPr>
          <a:xfrm>
            <a:off x="6620256" y="48463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log console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6620256" y="536752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create/update/delete, searchable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272016" y="3886200"/>
            <a:ext cx="2697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9DEDD"/>
            </a:solidFill>
            <a:prstDash val="solid"/>
          </a:ln>
          <a:effectLst>
            <a:outerShdw sx="100000" sy="100000" kx="0" ky="0" algn="bl" rotWithShape="0" blurRad="63500" dist="25400" dir="5400000">
              <a:srgbClr val="AAB4B2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546336" y="4178808"/>
            <a:ext cx="566928" cy="566928"/>
          </a:xfrm>
          <a:prstGeom prst="ellipse">
            <a:avLst/>
          </a:prstGeom>
          <a:solidFill>
            <a:srgbClr val="FCEFD6"/>
          </a:solidFill>
          <a:ln/>
        </p:spPr>
      </p:sp>
      <p:sp>
        <p:nvSpPr>
          <p:cNvPr id="41" name="Shape 39"/>
          <p:cNvSpPr/>
          <p:nvPr/>
        </p:nvSpPr>
        <p:spPr>
          <a:xfrm>
            <a:off x="9692640" y="4325112"/>
            <a:ext cx="274320" cy="27432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42" name="Text 40"/>
          <p:cNvSpPr/>
          <p:nvPr/>
        </p:nvSpPr>
        <p:spPr>
          <a:xfrm>
            <a:off x="9528048" y="48463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Configurable forms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9528048" y="536752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choose which new-hire fields appear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Portal  ·  Created by Arif Asad Ali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&amp; Foodmall logins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store its own account — tightly scoped, and safe to hand out.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5760" cy="36576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6" name="Shape 4"/>
          <p:cNvSpPr/>
          <p:nvPr/>
        </p:nvSpPr>
        <p:spPr>
          <a:xfrm>
            <a:off x="649224" y="2020824"/>
            <a:ext cx="164592" cy="164592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87452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their store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store login sees just its own staff — no one else's.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365760" cy="36576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" y="2953512"/>
            <a:ext cx="164592" cy="164592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807208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brand only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position, pay or contact details are exposed.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365760" cy="36576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9224" y="3886200"/>
            <a:ext cx="164592" cy="164592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739896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Foodmalls group by brand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multi-brand store shows staff under each brand.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718304"/>
            <a:ext cx="365760" cy="36576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" y="4818888"/>
            <a:ext cx="164592" cy="164592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672584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staff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button asks admins to add someone — they approve.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498080" y="1783080"/>
            <a:ext cx="41148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DEDD"/>
            </a:solidFill>
            <a:prstDash val="solid"/>
          </a:ln>
          <a:effectLst>
            <a:outerShdw sx="100000" sy="100000" kx="0" ky="0" algn="bl" rotWithShape="0" blurRad="101600" dist="38100" dir="5400000">
              <a:srgbClr val="9AA6A4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0" y="1783080"/>
            <a:ext cx="4114800" cy="640080"/>
          </a:xfrm>
          <a:prstGeom prst="roundRect">
            <a:avLst>
              <a:gd name="adj" fmla="val 17143"/>
            </a:avLst>
          </a:prstGeom>
          <a:solidFill>
            <a:srgbClr val="0F3D3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17830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Trincity Foodcourt  ·  foodmall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18120" y="2651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Pizza Boys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863840" y="3054096"/>
            <a:ext cx="237744" cy="237744"/>
          </a:xfrm>
          <a:prstGeom prst="ellipse">
            <a:avLst/>
          </a:prstGeom>
          <a:solidFill>
            <a:srgbClr val="F5F7F6"/>
          </a:solidFill>
          <a:ln w="12700">
            <a:solidFill>
              <a:srgbClr val="D9DE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30175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Amrita R.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63840" y="3438144"/>
            <a:ext cx="237744" cy="237744"/>
          </a:xfrm>
          <a:prstGeom prst="ellipse">
            <a:avLst/>
          </a:prstGeom>
          <a:solidFill>
            <a:srgbClr val="F5F7F6"/>
          </a:solidFill>
          <a:ln w="12700">
            <a:solidFill>
              <a:srgbClr val="D9DE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340156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Kishan P.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818120" y="38770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Church's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863840" y="4279392"/>
            <a:ext cx="237744" cy="237744"/>
          </a:xfrm>
          <a:prstGeom prst="ellipse">
            <a:avLst/>
          </a:prstGeom>
          <a:solidFill>
            <a:srgbClr val="F5F7F6"/>
          </a:solidFill>
          <a:ln w="12700">
            <a:solidFill>
              <a:srgbClr val="D9DE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424281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 S.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818120" y="47183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Rituals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863840" y="5120640"/>
            <a:ext cx="237744" cy="237744"/>
          </a:xfrm>
          <a:prstGeom prst="ellipse">
            <a:avLst/>
          </a:prstGeom>
          <a:solidFill>
            <a:srgbClr val="F5F7F6"/>
          </a:solidFill>
          <a:ln w="12700">
            <a:solidFill>
              <a:srgbClr val="D9DE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50840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Nadia B.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863840" y="5504688"/>
            <a:ext cx="237744" cy="237744"/>
          </a:xfrm>
          <a:prstGeom prst="ellipse">
            <a:avLst/>
          </a:prstGeom>
          <a:solidFill>
            <a:srgbClr val="F5F7F6"/>
          </a:solidFill>
          <a:ln w="12700">
            <a:solidFill>
              <a:srgbClr val="D9DE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54681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K.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Portal  ·  Created by Arif Asad Ali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new accounts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self-service sign-up — gated so nothing goes live without an administrator.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3832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DEDD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2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20240" y="2468880"/>
            <a:ext cx="822960" cy="822960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up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requests an account from the login screen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69080" y="3314700"/>
            <a:ext cx="411480" cy="0"/>
          </a:xfrm>
          <a:prstGeom prst="line">
            <a:avLst/>
          </a:prstGeom>
          <a:noFill/>
          <a:ln w="38100">
            <a:solidFill>
              <a:srgbClr val="E9A23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26280" y="2148840"/>
            <a:ext cx="33832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DEDD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2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06440" y="2468880"/>
            <a:ext cx="822960" cy="822960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13" name="Text 11"/>
          <p:cNvSpPr/>
          <p:nvPr/>
        </p:nvSpPr>
        <p:spPr>
          <a:xfrm>
            <a:off x="580644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26280" y="34290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email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38404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verify their email address via a link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0" y="3314700"/>
            <a:ext cx="411480" cy="0"/>
          </a:xfrm>
          <a:prstGeom prst="line">
            <a:avLst/>
          </a:prstGeom>
          <a:noFill/>
          <a:ln w="38100">
            <a:solidFill>
              <a:srgbClr val="E9A23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412480" y="2148840"/>
            <a:ext cx="33832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DEDD"/>
            </a:solidFill>
            <a:prstDash val="solid"/>
          </a:ln>
          <a:effectLst>
            <a:outerShdw sx="100000" sy="100000" kx="0" ky="0" algn="bl" rotWithShape="0" blurRad="76200" dist="25400" dir="5400000">
              <a:srgbClr val="AAB4B2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92640" y="2468880"/>
            <a:ext cx="822960" cy="822960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19" name="Text 17"/>
          <p:cNvSpPr/>
          <p:nvPr/>
        </p:nvSpPr>
        <p:spPr>
          <a:xfrm>
            <a:off x="969264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412480" y="34290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approves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41080" y="38404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 reviews and assigns a role — then it's live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4892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roadmap:  </a:t>
            </a:r>
            <a:pPr indent="0" marL="0">
              <a:buNone/>
            </a:pPr>
            <a:r>
              <a:rPr lang="en-US" sz="1350" i="1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confirmation emails switch on once the sending domain is configured. Everything else already works.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Portal  ·  Created by Arif Asad Ali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origin serves the app and the data — reached securely, with no open ports.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2494A"/>
          </a:solidFill>
          <a:ln w="19050">
            <a:solidFill>
              <a:srgbClr val="1B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5000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team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Android app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91256" y="2971800"/>
            <a:ext cx="310896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  <a:headEnd type="oval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38728" y="20574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2494A"/>
          </a:solidFill>
          <a:ln w="19050">
            <a:solidFill>
              <a:srgbClr val="1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1608" y="235000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Cloudflare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721608" y="29260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edge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(secure tunnel)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9904" y="2971800"/>
            <a:ext cx="310896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  <a:headEnd type="oval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37376" y="20574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E9A23B"/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0256" y="235000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Portal server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20256" y="29260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app UI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the API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88552" y="2971800"/>
            <a:ext cx="310896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  <a:headEnd type="oval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36024" y="20574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2494A"/>
          </a:solidFill>
          <a:ln w="19050">
            <a:solidFill>
              <a:srgbClr val="1B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18904" y="2350008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518904" y="29260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your records)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10927080" cy="1371600"/>
          </a:xfrm>
          <a:prstGeom prst="roundRect">
            <a:avLst>
              <a:gd name="adj" fmla="val 8000"/>
            </a:avLst>
          </a:prstGeom>
          <a:solidFill>
            <a:srgbClr val="0B3839"/>
          </a:solidFill>
          <a:ln w="12700">
            <a:solidFill>
              <a:srgbClr val="1B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8006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SQLModel + PostgreSQL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backend &amp; data
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one codebase for web and Android     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containerised deployment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Portal  ·  Created by Arif Asad Ali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by design, controllable by admins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DE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167128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07568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Signed-in access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43000" y="245973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auth carrying the user's roles; passwords hashed with bcrypt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DE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3538728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44728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Server-enforced roles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143000" y="383133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endpoint checks role — restricted views never leak details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DE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4910328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81888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 trail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143000" y="520293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changes recorded and browsable in the admin console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5508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CONTROLS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55080" y="187452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DE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11112" y="2167128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207568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mode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0" y="245973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maintenance page to field roles while admins keep working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55080" y="324612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DE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11112" y="3538728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344728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Announcements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949440" y="383133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to everyone via the bell or a one-time popup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55080" y="461772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DE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11112" y="4910328"/>
            <a:ext cx="146304" cy="640080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481888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marketing block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949440" y="520293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562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promo area on login — text, image or video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146304" cy="146304"/>
          </a:xfrm>
          <a:prstGeom prst="ellipse">
            <a:avLst/>
          </a:prstGeom>
          <a:solidFill>
            <a:srgbClr val="E9A23B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663440"/>
            <a:ext cx="146304" cy="146304"/>
          </a:xfrm>
          <a:prstGeom prst="ellipse">
            <a:avLst/>
          </a:prstGeom>
          <a:solidFill>
            <a:srgbClr val="E9A23B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5577840"/>
            <a:ext cx="146304" cy="146304"/>
          </a:xfrm>
          <a:prstGeom prst="ellipse">
            <a:avLst/>
          </a:prstGeom>
          <a:solidFill>
            <a:srgbClr val="E9A23B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47120" y="5486400"/>
            <a:ext cx="146304" cy="146304"/>
          </a:xfrm>
          <a:prstGeom prst="ellipse">
            <a:avLst/>
          </a:prstGeom>
          <a:solidFill>
            <a:srgbClr val="E9A23B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0" y="6400800"/>
            <a:ext cx="146304" cy="146304"/>
          </a:xfrm>
          <a:prstGeom prst="ellipse">
            <a:avLst/>
          </a:prstGeom>
          <a:solidFill>
            <a:srgbClr val="E9A23B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0" y="4389120"/>
            <a:ext cx="146304" cy="146304"/>
          </a:xfrm>
          <a:prstGeom prst="ellipse">
            <a:avLst/>
          </a:prstGeom>
          <a:solidFill>
            <a:srgbClr val="E9A23B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582912" y="4279392"/>
            <a:ext cx="932688" cy="384048"/>
          </a:xfrm>
          <a:prstGeom prst="line">
            <a:avLst/>
          </a:prstGeom>
          <a:noFill/>
          <a:ln w="12700">
            <a:solidFill>
              <a:srgbClr val="E9A23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88752" y="4736592"/>
            <a:ext cx="658368" cy="749808"/>
          </a:xfrm>
          <a:prstGeom prst="line">
            <a:avLst/>
          </a:prstGeom>
          <a:noFill/>
          <a:ln w="12700">
            <a:solidFill>
              <a:srgbClr val="E9A23B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40112" y="5650992"/>
            <a:ext cx="658368" cy="749808"/>
          </a:xfrm>
          <a:prstGeom prst="line">
            <a:avLst/>
          </a:prstGeom>
          <a:noFill/>
          <a:ln w="12700">
            <a:solidFill>
              <a:srgbClr val="E9A23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86868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E9A23B"/>
          </a:solidFill>
          <a:ln/>
        </p:spPr>
      </p:sp>
      <p:sp>
        <p:nvSpPr>
          <p:cNvPr id="12" name="Shape 10"/>
          <p:cNvSpPr/>
          <p:nvPr/>
        </p:nvSpPr>
        <p:spPr>
          <a:xfrm flipH="1">
            <a:off x="1078992" y="1152144"/>
            <a:ext cx="201168" cy="365760"/>
          </a:xfrm>
          <a:prstGeom prst="line">
            <a:avLst/>
          </a:prstGeom>
          <a:noFill/>
          <a:ln w="43180">
            <a:solidFill>
              <a:srgbClr val="0F3D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1152144"/>
            <a:ext cx="201168" cy="365760"/>
          </a:xfrm>
          <a:prstGeom prst="line">
            <a:avLst/>
          </a:prstGeom>
          <a:noFill/>
          <a:ln w="43180">
            <a:solidFill>
              <a:srgbClr val="0F3D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" y="1426464"/>
            <a:ext cx="182880" cy="182880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15" name="Shape 13"/>
          <p:cNvSpPr/>
          <p:nvPr/>
        </p:nvSpPr>
        <p:spPr>
          <a:xfrm>
            <a:off x="1389888" y="1426464"/>
            <a:ext cx="182880" cy="182880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16" name="Shape 14"/>
          <p:cNvSpPr/>
          <p:nvPr/>
        </p:nvSpPr>
        <p:spPr>
          <a:xfrm>
            <a:off x="1161288" y="1033272"/>
            <a:ext cx="237744" cy="237744"/>
          </a:xfrm>
          <a:prstGeom prst="ellipse">
            <a:avLst/>
          </a:prstGeom>
          <a:solidFill>
            <a:srgbClr val="0F3D3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2860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your staff across brands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stores — from one place.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  ·  </a:t>
            </a:r>
            <a:pPr indent="0" marL="0">
              <a:buNone/>
            </a:pPr>
            <a:r>
              <a:rPr lang="en-US" sz="1800" i="1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secure address, on web and Android.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Portal  ·  Created by Arif Asad Ali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2026-07-31T13:32:32Z</dcterms:created>
  <dcterms:modified xsi:type="dcterms:W3CDTF">2026-07-31T13:32:32Z</dcterms:modified>
</cp:coreProperties>
</file>